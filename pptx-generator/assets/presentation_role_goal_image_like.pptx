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プレゼンテーションの役割とゴール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45952" cy="0"/>
          </a:xfrm>
          <a:prstGeom prst="line">
            <a:avLst/>
          </a:prstGeom>
          <a:noFill/>
          <a:ln w="25400">
            <a:solidFill>
              <a:srgbClr val="00AF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201168"/>
            <a:ext cx="2880360" cy="548640"/>
          </a:xfrm>
          <a:prstGeom prst="chevron">
            <a:avLst/>
          </a:prstGeom>
          <a:solidFill>
            <a:srgbClr val="00AFB2"/>
          </a:solidFill>
          <a:ln w="12700">
            <a:solidFill>
              <a:srgbClr val="00AF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98280" y="3108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AIの本質を理解する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5440680" cy="4965192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25400" dist="50800" dir="2700000">
              <a:srgbClr val="C9D1D9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99632" y="1353312"/>
            <a:ext cx="5440680" cy="4965192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  <a:effectLst>
            <a:outerShdw sx="100000" sy="100000" kx="0" ky="0" algn="bl" rotWithShape="0" blurRad="25400" dist="50800" dir="2700000">
              <a:srgbClr val="C9D1D9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71907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16152" y="17190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「伝えること」をゴールにする誤解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23134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20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一方的に情報を押し売りし、自分自身のタスク</a:t>
            </a:r>
            <a:endParaRPr lang="en-US" sz="152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520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完了（発表）をもって成功とする姿勢。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676656" y="3255264"/>
            <a:ext cx="5001768" cy="3200400"/>
          </a:xfrm>
          <a:prstGeom prst="roundRect">
            <a:avLst>
              <a:gd name="adj" fmla="val 4571"/>
            </a:avLst>
          </a:prstGeom>
          <a:solidFill>
            <a:srgbClr val="E8FAFA"/>
          </a:solidFill>
          <a:ln w="12700">
            <a:solidFill>
              <a:srgbClr val="D0F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410712"/>
            <a:ext cx="4672584" cy="758952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E4F6F7"/>
            </a:solidFill>
            <a:prstDash val="solid"/>
          </a:ln>
          <a:effectLst>
            <a:outerShdw sx="100000" sy="100000" kx="0" ky="0" algn="bl" rotWithShape="0" blurRad="25400" dist="50800" dir="2700000">
              <a:srgbClr val="C9D1D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3575304"/>
            <a:ext cx="374904" cy="374904"/>
          </a:xfrm>
          <a:prstGeom prst="ellipse">
            <a:avLst/>
          </a:prstGeom>
          <a:solidFill>
            <a:srgbClr val="008C90"/>
          </a:solidFill>
          <a:ln w="12700">
            <a:solidFill>
              <a:srgbClr val="008C90"/>
            </a:solidFill>
            <a:prstDash val="solid"/>
          </a:ln>
          <a:effectLst>
            <a:outerShdw sx="100000" sy="100000" kx="0" ky="0" algn="bl" rotWithShape="0" blurRad="12700" dist="50800" dir="2700000">
              <a:srgbClr val="A5B8BE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607308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800" dirty="0"/>
          </a:p>
        </p:txBody>
      </p:sp>
      <p:pic>
        <p:nvPicPr>
          <p:cNvPr id="15" name="Image 0" descr="/mnt/data/icons_pptx/d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3575304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487168" y="3575304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課題を無視した説明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2487168" y="3886200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dirty="0">
                <a:solidFill>
                  <a:srgbClr val="2432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製品やスペックの説明が中心になる</a:t>
            </a:r>
            <a:endParaRPr lang="en-US" sz="1170" dirty="0"/>
          </a:p>
        </p:txBody>
      </p:sp>
      <p:sp>
        <p:nvSpPr>
          <p:cNvPr id="18" name="Shape 15"/>
          <p:cNvSpPr/>
          <p:nvPr/>
        </p:nvSpPr>
        <p:spPr>
          <a:xfrm>
            <a:off x="841248" y="4370832"/>
            <a:ext cx="4672584" cy="758952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E4F6F7"/>
            </a:solidFill>
            <a:prstDash val="solid"/>
          </a:ln>
          <a:effectLst>
            <a:outerShdw sx="100000" sy="100000" kx="0" ky="0" algn="bl" rotWithShape="0" blurRad="25400" dist="50800" dir="2700000">
              <a:srgbClr val="C9D1D9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05840" y="4535424"/>
            <a:ext cx="374904" cy="374904"/>
          </a:xfrm>
          <a:prstGeom prst="ellipse">
            <a:avLst/>
          </a:prstGeom>
          <a:solidFill>
            <a:srgbClr val="008C90"/>
          </a:solidFill>
          <a:ln w="12700">
            <a:solidFill>
              <a:srgbClr val="008C90"/>
            </a:solidFill>
            <a:prstDash val="solid"/>
          </a:ln>
          <a:effectLst>
            <a:outerShdw sx="100000" sy="100000" kx="0" ky="0" algn="bl" rotWithShape="0" blurRad="12700" dist="50800" dir="2700000">
              <a:srgbClr val="A5B8BE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05840" y="4567428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800" dirty="0"/>
          </a:p>
        </p:txBody>
      </p:sp>
      <p:pic>
        <p:nvPicPr>
          <p:cNvPr id="21" name="Image 1" descr="/mnt/data/icons_pptx/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4535424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487168" y="4535424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自分ごと化されない</a:t>
            </a:r>
            <a:endParaRPr lang="en-US" sz="1750" dirty="0"/>
          </a:p>
        </p:txBody>
      </p:sp>
      <p:sp>
        <p:nvSpPr>
          <p:cNvPr id="23" name="Text 19"/>
          <p:cNvSpPr/>
          <p:nvPr/>
        </p:nvSpPr>
        <p:spPr>
          <a:xfrm>
            <a:off x="2487168" y="4846320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dirty="0">
                <a:solidFill>
                  <a:srgbClr val="2432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聞き手が「自分には関係ない」と感じる</a:t>
            </a:r>
            <a:endParaRPr lang="en-US" sz="1170" dirty="0"/>
          </a:p>
        </p:txBody>
      </p:sp>
      <p:sp>
        <p:nvSpPr>
          <p:cNvPr id="24" name="Shape 20"/>
          <p:cNvSpPr/>
          <p:nvPr/>
        </p:nvSpPr>
        <p:spPr>
          <a:xfrm>
            <a:off x="841248" y="5330952"/>
            <a:ext cx="4672584" cy="758952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E4F6F7"/>
            </a:solidFill>
            <a:prstDash val="solid"/>
          </a:ln>
          <a:effectLst>
            <a:outerShdw sx="100000" sy="100000" kx="0" ky="0" algn="bl" rotWithShape="0" blurRad="25400" dist="50800" dir="2700000">
              <a:srgbClr val="C9D1D9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005840" y="5495544"/>
            <a:ext cx="374904" cy="374904"/>
          </a:xfrm>
          <a:prstGeom prst="ellipse">
            <a:avLst/>
          </a:prstGeom>
          <a:solidFill>
            <a:srgbClr val="008C90"/>
          </a:solidFill>
          <a:ln w="12700">
            <a:solidFill>
              <a:srgbClr val="008C90"/>
            </a:solidFill>
            <a:prstDash val="solid"/>
          </a:ln>
          <a:effectLst>
            <a:outerShdw sx="100000" sy="100000" kx="0" ky="0" algn="bl" rotWithShape="0" blurRad="12700" dist="50800" dir="2700000">
              <a:srgbClr val="A5B8BE">
                <a:alpha val="14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1005840" y="5527548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800" dirty="0"/>
          </a:p>
        </p:txBody>
      </p:sp>
      <p:pic>
        <p:nvPicPr>
          <p:cNvPr id="27" name="Image 2" descr="/mnt/data/icons_pptx/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495544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487168" y="5495544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行動につながらない</a:t>
            </a:r>
            <a:endParaRPr lang="en-US" sz="1750" dirty="0"/>
          </a:p>
        </p:txBody>
      </p:sp>
      <p:sp>
        <p:nvSpPr>
          <p:cNvPr id="29" name="Text 24"/>
          <p:cNvSpPr/>
          <p:nvPr/>
        </p:nvSpPr>
        <p:spPr>
          <a:xfrm>
            <a:off x="2487168" y="5806440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dirty="0">
                <a:solidFill>
                  <a:srgbClr val="2432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説明しても次の一歩が生まれない</a:t>
            </a:r>
            <a:endParaRPr lang="en-US" sz="1170" dirty="0"/>
          </a:p>
        </p:txBody>
      </p:sp>
      <p:sp>
        <p:nvSpPr>
          <p:cNvPr id="30" name="Text 25"/>
          <p:cNvSpPr/>
          <p:nvPr/>
        </p:nvSpPr>
        <p:spPr>
          <a:xfrm>
            <a:off x="6583680" y="171907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○</a:t>
            </a:r>
            <a:endParaRPr lang="en-US" sz="2600" dirty="0"/>
          </a:p>
        </p:txBody>
      </p:sp>
      <p:sp>
        <p:nvSpPr>
          <p:cNvPr id="31" name="Text 26"/>
          <p:cNvSpPr/>
          <p:nvPr/>
        </p:nvSpPr>
        <p:spPr>
          <a:xfrm>
            <a:off x="6958584" y="17190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相手の「課題理解」から行動へ導く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6675120" y="23134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20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聞き手自身が「確かにこれは解決すべき課題だ」</a:t>
            </a:r>
            <a:endParaRPr lang="en-US" sz="152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520" dirty="0">
                <a:solidFill>
                  <a:srgbClr val="1720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と納得し、主体的意思決定を下す設計。</a:t>
            </a:r>
            <a:endParaRPr lang="en-US" sz="1520" dirty="0"/>
          </a:p>
        </p:txBody>
      </p:sp>
      <p:sp>
        <p:nvSpPr>
          <p:cNvPr id="33" name="Shape 28"/>
          <p:cNvSpPr/>
          <p:nvPr/>
        </p:nvSpPr>
        <p:spPr>
          <a:xfrm>
            <a:off x="6419088" y="3255264"/>
            <a:ext cx="5001768" cy="3200400"/>
          </a:xfrm>
          <a:prstGeom prst="roundRect">
            <a:avLst>
              <a:gd name="adj" fmla="val 4571"/>
            </a:avLst>
          </a:prstGeom>
          <a:solidFill>
            <a:srgbClr val="E8FAFA"/>
          </a:solidFill>
          <a:ln w="12700">
            <a:solidFill>
              <a:srgbClr val="D0F1F2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583680" y="3410712"/>
            <a:ext cx="4672584" cy="758952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E4F6F7"/>
            </a:solidFill>
            <a:prstDash val="solid"/>
          </a:ln>
          <a:effectLst>
            <a:outerShdw sx="100000" sy="100000" kx="0" ky="0" algn="bl" rotWithShape="0" blurRad="25400" dist="50800" dir="2700000">
              <a:srgbClr val="C9D1D9">
                <a:alpha val="1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748272" y="3575304"/>
            <a:ext cx="374904" cy="374904"/>
          </a:xfrm>
          <a:prstGeom prst="ellipse">
            <a:avLst/>
          </a:prstGeom>
          <a:solidFill>
            <a:srgbClr val="008C90"/>
          </a:solidFill>
          <a:ln w="12700">
            <a:solidFill>
              <a:srgbClr val="008C90"/>
            </a:solidFill>
            <a:prstDash val="solid"/>
          </a:ln>
          <a:effectLst>
            <a:outerShdw sx="100000" sy="100000" kx="0" ky="0" algn="bl" rotWithShape="0" blurRad="12700" dist="50800" dir="2700000">
              <a:srgbClr val="A5B8BE">
                <a:alpha val="14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6748272" y="3607308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800" dirty="0"/>
          </a:p>
        </p:txBody>
      </p:sp>
      <p:pic>
        <p:nvPicPr>
          <p:cNvPr id="37" name="Image 3" descr="/mnt/data/icons_pptx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3575304"/>
            <a:ext cx="502920" cy="5029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229600" y="3575304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真の課題を可視化</a:t>
            </a:r>
            <a:endParaRPr lang="en-US" sz="1750" dirty="0"/>
          </a:p>
        </p:txBody>
      </p:sp>
      <p:sp>
        <p:nvSpPr>
          <p:cNvPr id="39" name="Text 33"/>
          <p:cNvSpPr/>
          <p:nvPr/>
        </p:nvSpPr>
        <p:spPr>
          <a:xfrm>
            <a:off x="8229600" y="3886200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dirty="0">
                <a:solidFill>
                  <a:srgbClr val="2432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相手のボトルネックを明らかにする</a:t>
            </a:r>
            <a:endParaRPr lang="en-US" sz="1170" dirty="0"/>
          </a:p>
        </p:txBody>
      </p:sp>
      <p:sp>
        <p:nvSpPr>
          <p:cNvPr id="40" name="Shape 34"/>
          <p:cNvSpPr/>
          <p:nvPr/>
        </p:nvSpPr>
        <p:spPr>
          <a:xfrm>
            <a:off x="6583680" y="4370832"/>
            <a:ext cx="4672584" cy="758952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E4F6F7"/>
            </a:solidFill>
            <a:prstDash val="solid"/>
          </a:ln>
          <a:effectLst>
            <a:outerShdw sx="100000" sy="100000" kx="0" ky="0" algn="bl" rotWithShape="0" blurRad="25400" dist="50800" dir="2700000">
              <a:srgbClr val="C9D1D9">
                <a:alpha val="1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748272" y="4535424"/>
            <a:ext cx="374904" cy="374904"/>
          </a:xfrm>
          <a:prstGeom prst="ellipse">
            <a:avLst/>
          </a:prstGeom>
          <a:solidFill>
            <a:srgbClr val="008C90"/>
          </a:solidFill>
          <a:ln w="12700">
            <a:solidFill>
              <a:srgbClr val="008C90"/>
            </a:solidFill>
            <a:prstDash val="solid"/>
          </a:ln>
          <a:effectLst>
            <a:outerShdw sx="100000" sy="100000" kx="0" ky="0" algn="bl" rotWithShape="0" blurRad="12700" dist="50800" dir="2700000">
              <a:srgbClr val="A5B8BE">
                <a:alpha val="14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6748272" y="4567428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800" dirty="0"/>
          </a:p>
        </p:txBody>
      </p:sp>
      <p:pic>
        <p:nvPicPr>
          <p:cNvPr id="43" name="Image 4" descr="/mnt/data/icons_pptx/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4535424"/>
            <a:ext cx="502920" cy="50292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229600" y="4535424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解決策とのつながりを示す</a:t>
            </a:r>
            <a:endParaRPr lang="en-US" sz="1750" dirty="0"/>
          </a:p>
        </p:txBody>
      </p:sp>
      <p:sp>
        <p:nvSpPr>
          <p:cNvPr id="45" name="Text 38"/>
          <p:cNvSpPr/>
          <p:nvPr/>
        </p:nvSpPr>
        <p:spPr>
          <a:xfrm>
            <a:off x="8229600" y="4846320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dirty="0">
                <a:solidFill>
                  <a:srgbClr val="2432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自社提案が最適解だと腹落ちさせる</a:t>
            </a:r>
            <a:endParaRPr lang="en-US" sz="1170" dirty="0"/>
          </a:p>
        </p:txBody>
      </p:sp>
      <p:sp>
        <p:nvSpPr>
          <p:cNvPr id="46" name="Shape 39"/>
          <p:cNvSpPr/>
          <p:nvPr/>
        </p:nvSpPr>
        <p:spPr>
          <a:xfrm>
            <a:off x="6583680" y="5330952"/>
            <a:ext cx="4672584" cy="758952"/>
          </a:xfrm>
          <a:prstGeom prst="roundRect">
            <a:avLst>
              <a:gd name="adj" fmla="val 19277"/>
            </a:avLst>
          </a:prstGeom>
          <a:solidFill>
            <a:srgbClr val="FFFFFF"/>
          </a:solidFill>
          <a:ln w="12700">
            <a:solidFill>
              <a:srgbClr val="E4F6F7"/>
            </a:solidFill>
            <a:prstDash val="solid"/>
          </a:ln>
          <a:effectLst>
            <a:outerShdw sx="100000" sy="100000" kx="0" ky="0" algn="bl" rotWithShape="0" blurRad="25400" dist="50800" dir="2700000">
              <a:srgbClr val="C9D1D9">
                <a:alpha val="18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6748272" y="5495544"/>
            <a:ext cx="374904" cy="374904"/>
          </a:xfrm>
          <a:prstGeom prst="ellipse">
            <a:avLst/>
          </a:prstGeom>
          <a:solidFill>
            <a:srgbClr val="008C90"/>
          </a:solidFill>
          <a:ln w="12700">
            <a:solidFill>
              <a:srgbClr val="008C90"/>
            </a:solidFill>
            <a:prstDash val="solid"/>
          </a:ln>
          <a:effectLst>
            <a:outerShdw sx="100000" sy="100000" kx="0" ky="0" algn="bl" rotWithShape="0" blurRad="12700" dist="50800" dir="2700000">
              <a:srgbClr val="A5B8BE">
                <a:alpha val="14000"/>
              </a:srgbClr>
            </a:outerShdw>
          </a:effectLst>
        </p:spPr>
      </p:sp>
      <p:sp>
        <p:nvSpPr>
          <p:cNvPr id="48" name="Text 41"/>
          <p:cNvSpPr/>
          <p:nvPr/>
        </p:nvSpPr>
        <p:spPr>
          <a:xfrm>
            <a:off x="6748272" y="5527548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800" dirty="0"/>
          </a:p>
        </p:txBody>
      </p:sp>
      <p:pic>
        <p:nvPicPr>
          <p:cNvPr id="49" name="Image 5" descr="/mnt/data/icons_pptx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5495544"/>
            <a:ext cx="502920" cy="50292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8229600" y="5495544"/>
            <a:ext cx="2752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008F9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自発的な行動を引き出す</a:t>
            </a:r>
            <a:endParaRPr lang="en-US" sz="1750" dirty="0"/>
          </a:p>
        </p:txBody>
      </p:sp>
      <p:sp>
        <p:nvSpPr>
          <p:cNvPr id="51" name="Text 43"/>
          <p:cNvSpPr/>
          <p:nvPr/>
        </p:nvSpPr>
        <p:spPr>
          <a:xfrm>
            <a:off x="8229600" y="5806440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dirty="0">
                <a:solidFill>
                  <a:srgbClr val="2432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相手が動きたくなる状態をつくる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Digital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プレゼンテーションの役割とゴール</dc:title>
  <dc:subject>Presentation redesign</dc:subject>
  <dc:creator>OpenAI</dc:creator>
  <cp:lastModifiedBy>OpenAI</cp:lastModifiedBy>
  <cp:revision>1</cp:revision>
  <dcterms:created xsi:type="dcterms:W3CDTF">2026-06-23T04:30:49Z</dcterms:created>
  <dcterms:modified xsi:type="dcterms:W3CDTF">2026-06-23T04:30:49Z</dcterms:modified>
</cp:coreProperties>
</file>